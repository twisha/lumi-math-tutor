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1645920" cy="1645920"/>
          </a:xfrm>
          <a:prstGeom prst="ellipse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FFB80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657600"/>
            <a:ext cx="2011680" cy="2011680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1097280" cy="1097280"/>
          </a:xfrm>
          <a:prstGeom prst="ellipse">
            <a:avLst/>
          </a:prstGeom>
          <a:solidFill>
            <a:srgbClr val="3DBFAA">
              <a:alpha val="25000"/>
            </a:srgbClr>
          </a:solidFill>
          <a:ln w="12700">
            <a:solidFill>
              <a:srgbClr val="3DBFAA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822960"/>
            <a:ext cx="1005840" cy="10058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80467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⭐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377440" y="685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Lumi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2377440" y="1600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Tutor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377440" y="2377440"/>
            <a:ext cx="5029200" cy="45720"/>
          </a:xfrm>
          <a:prstGeom prst="rect">
            <a:avLst/>
          </a:prstGeom>
          <a:solidFill>
            <a:srgbClr val="FFB800">
              <a:alpha val="50000"/>
            </a:srgbClr>
          </a:solidFill>
          <a:ln w="12700">
            <a:solidFill>
              <a:srgbClr val="FFB800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K-2 Voice Math Tutor Powered by Local AI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77440" y="32461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3246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Ollama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32461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3246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Whisper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32461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3DBFAA">
              <a:alpha val="30000"/>
            </a:srgbClr>
          </a:solidFill>
          <a:ln w="12700">
            <a:solidFill>
              <a:srgbClr val="3DBF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246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pyttsx3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78040" y="32461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7B68EE">
              <a:alpha val="30000"/>
            </a:srgbClr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3246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Streamlit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AI Foundations Course  ·  100% Local — No Cloud Required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Lumi?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783080"/>
            <a:ext cx="1005840" cy="1005840"/>
          </a:xfrm>
          <a:prstGeom prst="ellipse">
            <a:avLst/>
          </a:prstGeom>
          <a:solidFill>
            <a:srgbClr val="FFB800">
              <a:alpha val="85000"/>
            </a:srgbClr>
          </a:solidFill>
          <a:ln w="12700">
            <a:solidFill>
              <a:srgbClr val="FFB800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7647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K-2 children (ages 5-7) cannot type or read text fluently. Traditional chat-based tutors are inaccessible to young learners who need voice, visuals, and encouragement.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0" y="1783080"/>
            <a:ext cx="1005840" cy="1005840"/>
          </a:xfrm>
          <a:prstGeom prst="ellipse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7647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37560" y="2926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64992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 is a voice-first math tutor. Kids speak, Lumi listens, thinks, and talks back. Built entirely with local AI — no internet, no cloud, no cost per session.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60020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783080"/>
            <a:ext cx="1005840" cy="1005840"/>
          </a:xfrm>
          <a:prstGeom prst="ellipse">
            <a:avLst/>
          </a:prstGeom>
          <a:solidFill>
            <a:srgbClr val="3DBFAA">
              <a:alpha val="85000"/>
            </a:srgbClr>
          </a:solidFill>
          <a:ln w="12700">
            <a:solidFill>
              <a:srgbClr val="3DBFAA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7647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0" y="2926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45352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 foundations hands-on: transformers, prompt engineering, tool calling, guardrails, and speech models — all working together in one real product.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Lumi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508760"/>
            <a:ext cx="1508760" cy="1463040"/>
          </a:xfrm>
          <a:prstGeom prst="rect">
            <a:avLst/>
          </a:prstGeom>
          <a:solidFill>
            <a:srgbClr val="FF6B6B">
              <a:alpha val="80000"/>
            </a:srgbClr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Speaks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057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sounddevice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64792" y="2231136"/>
            <a:ext cx="173736" cy="0"/>
          </a:xfrm>
          <a:prstGeom prst="line">
            <a:avLst/>
          </a:prstGeom>
          <a:noFill/>
          <a:ln w="19050">
            <a:solidFill>
              <a:srgbClr val="8896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1508760"/>
            <a:ext cx="1508760" cy="1463040"/>
          </a:xfrm>
          <a:prstGeom prst="rect">
            <a:avLst/>
          </a:prstGeom>
          <a:solidFill>
            <a:srgbClr val="FFB800">
              <a:alpha val="80000"/>
            </a:srgbClr>
          </a:solidFill>
          <a:ln w="1905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057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transcription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openai-whisper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02152" y="2231136"/>
            <a:ext cx="173736" cy="0"/>
          </a:xfrm>
          <a:prstGeom prst="line">
            <a:avLst/>
          </a:prstGeom>
          <a:noFill/>
          <a:ln w="19050">
            <a:solidFill>
              <a:srgbClr val="8896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1508760"/>
            <a:ext cx="1508760" cy="1463040"/>
          </a:xfrm>
          <a:prstGeom prst="rect">
            <a:avLst/>
          </a:prstGeom>
          <a:solidFill>
            <a:srgbClr val="3DBFAA">
              <a:alpha val="80000"/>
            </a:srgbClr>
          </a:solidFill>
          <a:ln w="19050">
            <a:solidFill>
              <a:srgbClr val="3DBF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3320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2057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 + tools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39512" y="2231136"/>
            <a:ext cx="173736" cy="0"/>
          </a:xfrm>
          <a:prstGeom prst="line">
            <a:avLst/>
          </a:prstGeom>
          <a:noFill/>
          <a:ln w="19050">
            <a:solidFill>
              <a:srgbClr val="8896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1508760"/>
            <a:ext cx="1508760" cy="1463040"/>
          </a:xfrm>
          <a:prstGeom prst="rect">
            <a:avLst/>
          </a:prstGeom>
          <a:solidFill>
            <a:srgbClr val="7B68EE">
              <a:alpha val="80000"/>
            </a:srgbClr>
          </a:solidFill>
          <a:ln w="19050">
            <a:solidFill>
              <a:srgbClr val="7B6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40680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pyttsx3 TTS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057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voice 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Samantha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76872" y="2231136"/>
            <a:ext cx="173736" cy="0"/>
          </a:xfrm>
          <a:prstGeom prst="line">
            <a:avLst/>
          </a:prstGeom>
          <a:noFill/>
          <a:ln w="19050">
            <a:solidFill>
              <a:srgbClr val="8896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1508760"/>
            <a:ext cx="1508760" cy="1463040"/>
          </a:xfrm>
          <a:prstGeom prst="rect">
            <a:avLst/>
          </a:prstGeom>
          <a:solidFill>
            <a:srgbClr val="FF6B6B">
              <a:alpha val="80000"/>
            </a:srgbClr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78040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Hears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2057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playback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0" y="3291840"/>
            <a:ext cx="6400800" cy="822960"/>
          </a:xfrm>
          <a:prstGeom prst="rect">
            <a:avLst/>
          </a:prstGeom>
          <a:solidFill>
            <a:srgbClr val="28395A"/>
          </a:solidFill>
          <a:ln w="12700">
            <a:solidFill>
              <a:srgbClr val="8896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71600" y="3291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 ·  Chat bubbles  ·  Voice button  ·  Text fallback  ·  Tool debug panel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 ·  Runs at localhost:8501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TECHNIQUE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02920" cy="502920"/>
          </a:xfrm>
          <a:prstGeom prst="ellipse">
            <a:avLst/>
          </a:prstGeom>
          <a:solidFill>
            <a:srgbClr val="FFB800">
              <a:alpha val="85000"/>
            </a:srgbClr>
          </a:solidFill>
          <a:ln w="12700">
            <a:solidFill>
              <a:srgbClr val="FFB800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36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801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"Lumi" anchors tone and behavior across every response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502920" cy="502920"/>
          </a:xfrm>
          <a:prstGeom prst="ellipse">
            <a:avLst/>
          </a:prstGeom>
          <a:solidFill>
            <a:srgbClr val="FFB800">
              <a:alpha val="85000"/>
            </a:srgbClr>
          </a:solidFill>
          <a:ln w="12700">
            <a:solidFill>
              <a:srgbClr val="FFB80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40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313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computes answer silently before responding — never guesses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63824"/>
            <a:ext cx="502920" cy="502920"/>
          </a:xfrm>
          <a:prstGeom prst="ellipse">
            <a:avLst/>
          </a:prstGeom>
          <a:solidFill>
            <a:srgbClr val="FFB800">
              <a:alpha val="85000"/>
            </a:srgbClr>
          </a:solidFill>
          <a:ln w="12700">
            <a:solidFill>
              <a:srgbClr val="FFB800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1181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Constraints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4107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response, one move. 2-3 sentences max. Vary opening words.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68496"/>
            <a:ext cx="502920" cy="502920"/>
          </a:xfrm>
          <a:prstGeom prst="ellipse">
            <a:avLst/>
          </a:prstGeom>
          <a:solidFill>
            <a:srgbClr val="FFB800">
              <a:alpha val="85000"/>
            </a:srgbClr>
          </a:solidFill>
          <a:ln w="12700">
            <a:solidFill>
              <a:srgbClr val="FFB800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922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Logic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2153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→ Hint → Reveal: multi-turn pedagogy encoded in natural language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1417320"/>
            <a:ext cx="3749040" cy="3383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1208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Fine-Tuning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66360" y="2377440"/>
            <a:ext cx="1508760" cy="347472"/>
          </a:xfrm>
          <a:prstGeom prst="rect">
            <a:avLst/>
          </a:prstGeom>
          <a:solidFill>
            <a:srgbClr val="3DBFAA">
              <a:alpha val="75000"/>
            </a:srgbClr>
          </a:solidFill>
          <a:ln w="12700">
            <a:solidFill>
              <a:srgbClr val="3DBFAA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3774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 to iterate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2377440"/>
            <a:ext cx="1783080" cy="347472"/>
          </a:xfrm>
          <a:prstGeom prst="rect">
            <a:avLst/>
          </a:prstGeom>
          <a:solidFill>
            <a:srgbClr val="28395A"/>
          </a:solidFill>
          <a:ln w="12700">
            <a:solidFill>
              <a:srgbClr val="2839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377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needs dataset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66360" y="2880360"/>
            <a:ext cx="1508760" cy="347472"/>
          </a:xfrm>
          <a:prstGeom prst="rect">
            <a:avLst/>
          </a:prstGeom>
          <a:solidFill>
            <a:srgbClr val="3DBFAA">
              <a:alpha val="75000"/>
            </a:srgbClr>
          </a:solidFill>
          <a:ln w="12700">
            <a:solidFill>
              <a:srgbClr val="3DBFAA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8803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training cost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2880360"/>
            <a:ext cx="1783080" cy="347472"/>
          </a:xfrm>
          <a:prstGeom prst="rect">
            <a:avLst/>
          </a:prstGeom>
          <a:solidFill>
            <a:srgbClr val="28395A"/>
          </a:solidFill>
          <a:ln w="12700">
            <a:solidFill>
              <a:srgbClr val="2839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2880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66360" y="3383280"/>
            <a:ext cx="1508760" cy="347472"/>
          </a:xfrm>
          <a:prstGeom prst="rect">
            <a:avLst/>
          </a:prstGeom>
          <a:solidFill>
            <a:srgbClr val="3DBFAA">
              <a:alpha val="75000"/>
            </a:srgbClr>
          </a:solidFill>
          <a:ln w="12700">
            <a:solidFill>
              <a:srgbClr val="3DBFAA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3832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Works any model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12280" y="3383280"/>
            <a:ext cx="1783080" cy="347472"/>
          </a:xfrm>
          <a:prstGeom prst="rect">
            <a:avLst/>
          </a:prstGeom>
          <a:solidFill>
            <a:srgbClr val="28395A"/>
          </a:solidFill>
          <a:ln w="12700">
            <a:solidFill>
              <a:srgbClr val="2839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Model-specific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66360" y="3886200"/>
            <a:ext cx="1508760" cy="347472"/>
          </a:xfrm>
          <a:prstGeom prst="rect">
            <a:avLst/>
          </a:prstGeom>
          <a:solidFill>
            <a:srgbClr val="3DBFAA">
              <a:alpha val="75000"/>
            </a:srgbClr>
          </a:solidFill>
          <a:ln w="12700">
            <a:solidFill>
              <a:srgbClr val="3DBFAA">
                <a:alpha val="7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38862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Right for this stage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12280" y="3886200"/>
            <a:ext cx="1783080" cy="347472"/>
          </a:xfrm>
          <a:prstGeom prst="rect">
            <a:avLst/>
          </a:prstGeom>
          <a:solidFill>
            <a:srgbClr val="28395A"/>
          </a:solidFill>
          <a:ln w="12700">
            <a:solidFill>
              <a:srgbClr val="2839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3886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at scale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ARITHMETIC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Calling — Never Guess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657600" cy="685800"/>
          </a:xfrm>
          <a:prstGeom prst="rect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LLMs predict answers from patterns — they don't compute. A math tutor that guesses is worse than no tutor.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331720"/>
            <a:ext cx="109728" cy="7498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check_topic()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157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math at all?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331720"/>
            <a:ext cx="109728" cy="7498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377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check_grade_level()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7157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K-2 appropriate?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331720"/>
            <a:ext cx="109728" cy="749808"/>
          </a:xfrm>
          <a:prstGeom prst="rect">
            <a:avLst/>
          </a:prstGeom>
          <a:solidFill>
            <a:srgbClr val="3DBFAA"/>
          </a:solidFill>
          <a:ln w="12700">
            <a:solidFill>
              <a:srgbClr val="3DBF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377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7157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expression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109728" cy="74980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37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check_answer()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6758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child's answer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291840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3291840"/>
            <a:ext cx="109728" cy="7498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337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generate_problem()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36758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problem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when to call tools autonomously  ·  Results returned before Lumi responds  ·  Grounded, never hallucinated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— Defense in Depth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28800" cy="914400"/>
          </a:xfrm>
          <a:prstGeom prst="rect">
            <a:avLst/>
          </a:prstGeom>
          <a:solidFill>
            <a:srgbClr val="8896A8">
              <a:alpha val="40000"/>
            </a:srgbClr>
          </a:solidFill>
          <a:ln w="12700">
            <a:solidFill>
              <a:srgbClr val="8896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13432" y="2011680"/>
            <a:ext cx="228600" cy="0"/>
          </a:xfrm>
          <a:prstGeom prst="line">
            <a:avLst/>
          </a:prstGeom>
          <a:noFill/>
          <a:ln w="19050">
            <a:solidFill>
              <a:srgbClr val="8896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554480"/>
            <a:ext cx="1828800" cy="914400"/>
          </a:xfrm>
          <a:prstGeom prst="rect">
            <a:avLst/>
          </a:prstGeom>
          <a:solidFill>
            <a:srgbClr val="FF6B6B">
              <a:alpha val="85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check_topic()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16552" y="2011680"/>
            <a:ext cx="228600" cy="0"/>
          </a:xfrm>
          <a:prstGeom prst="line">
            <a:avLst/>
          </a:prstGeom>
          <a:noFill/>
          <a:ln w="19050">
            <a:solidFill>
              <a:srgbClr val="8896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554480"/>
            <a:ext cx="1828800" cy="914400"/>
          </a:xfrm>
          <a:prstGeom prst="rect">
            <a:avLst/>
          </a:prstGeom>
          <a:solidFill>
            <a:srgbClr val="FFB800">
              <a:alpha val="85000"/>
            </a:srgbClr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check_grade_level()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advanced?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19672" y="2011680"/>
            <a:ext cx="228600" cy="0"/>
          </a:xfrm>
          <a:prstGeom prst="line">
            <a:avLst/>
          </a:prstGeom>
          <a:noFill/>
          <a:ln w="19050">
            <a:solidFill>
              <a:srgbClr val="8896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1554480"/>
            <a:ext cx="1828800" cy="914400"/>
          </a:xfrm>
          <a:prstGeom prst="rect">
            <a:avLst/>
          </a:prstGeom>
          <a:solidFill>
            <a:srgbClr val="3DBFAA">
              <a:alpha val="85000"/>
            </a:srgbClr>
          </a:solidFill>
          <a:ln w="12700">
            <a:solidFill>
              <a:srgbClr val="3DBF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redirect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for older kids!"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redirect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"Big math — try 20!"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6656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→ Hint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Reveal answer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841248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fires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Lumi's response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8412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03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6 × 7?"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63240" y="3703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check_grade_level → blocked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89320" y="3703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"Wow, big math! Let's try adding first 🌟"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014216"/>
            <a:ext cx="8412480" cy="29260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142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love pizza"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3240" y="40142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check_topic → off-topic (food)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89320" y="40142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"Yum! Let's save that — back to math! 🍕"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325112"/>
            <a:ext cx="8412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251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47 + 83?"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063240" y="4325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check_grade_level → blocked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89320" y="4325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"Those are big numbers! Try something within 20"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636008"/>
            <a:ext cx="8412480" cy="29260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636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4 + 9?"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063240" y="46360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pass → calculate(4+9)=13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89320" y="4636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you think the answer might be? 😊"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CONNECTIONS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Foundations Applied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673352"/>
            <a:ext cx="594360" cy="594360"/>
          </a:xfrm>
          <a:prstGeom prst="ellipse">
            <a:avLst/>
          </a:prstGeom>
          <a:solidFill>
            <a:srgbClr val="FFB800">
              <a:alpha val="80000"/>
            </a:srgbClr>
          </a:solidFill>
          <a:ln w="12700">
            <a:solidFill>
              <a:srgbClr val="FFB800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550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15636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&amp; Attention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91109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understand multi-turn conversations; how Whisper transcribes speech using the same architecture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0328" y="1673352"/>
            <a:ext cx="594360" cy="594360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6550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05272" y="15636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05272" y="191109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encodes Lumi's persona, pedagogy, hint escalation, and guardrails entirely in natural language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770632"/>
            <a:ext cx="594360" cy="594360"/>
          </a:xfrm>
          <a:prstGeom prst="ellipse">
            <a:avLst/>
          </a:prstGeom>
          <a:solidFill>
            <a:srgbClr val="3DBFAA">
              <a:alpha val="80000"/>
            </a:srgbClr>
          </a:solidFill>
          <a:ln w="12700">
            <a:solidFill>
              <a:srgbClr val="3DBFAA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7523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26609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/ Agents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00837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autonomously decides when to calculate, check answers, or generate problems — agentic behavior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60604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2770632"/>
            <a:ext cx="594360" cy="594360"/>
          </a:xfrm>
          <a:prstGeom prst="ellipse">
            <a:avLst/>
          </a:prstGeom>
          <a:solidFill>
            <a:srgbClr val="7B68EE">
              <a:alpha val="80000"/>
            </a:srgbClr>
          </a:solidFill>
          <a:ln w="12700">
            <a:solidFill>
              <a:srgbClr val="7B68EE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7523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05272" y="26609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Safety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05272" y="300837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Defense-in-depth: input classification + system prompt reinforcement catches out-of-scope requests at two layers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" y="3867912"/>
            <a:ext cx="594360" cy="594360"/>
          </a:xfrm>
          <a:prstGeom prst="ellipse">
            <a:avLst/>
          </a:prstGeom>
          <a:solidFill>
            <a:srgbClr val="FFB800">
              <a:alpha val="80000"/>
            </a:srgbClr>
          </a:solidFill>
          <a:ln w="12700">
            <a:solidFill>
              <a:srgbClr val="FFB800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8496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70432" y="37581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70432" y="410565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'47 + 83' and 'forty-seven plus eighty-three' behave differently — arithmetic is pattern matching, not computation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70332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3867912"/>
            <a:ext cx="594360" cy="594360"/>
          </a:xfrm>
          <a:prstGeom prst="ellipse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8496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05272" y="37581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05272" y="410565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Whisper running on-device makes model loading, memory usage, and inference speed tangible and observable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Structure &amp; Tech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840480" cy="3291840"/>
          </a:xfrm>
          <a:prstGeom prst="rect">
            <a:avLst/>
          </a:prstGeom>
          <a:solidFill>
            <a:srgbClr val="162238"/>
          </a:solidFill>
          <a:ln w="12700">
            <a:solidFill>
              <a:srgbClr val="8896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lumi-tutor/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core/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288036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prompts.py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2004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tools.py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35204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tutor_brain.py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384048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speech_input.py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416052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speech_output.py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1463040"/>
            <a:ext cx="4206240" cy="384048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4630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 </a:t>
            </a:r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</a:t>
            </a:r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883664"/>
            <a:ext cx="4206240" cy="530352"/>
          </a:xfrm>
          <a:prstGeom prst="rect">
            <a:avLst/>
          </a:prstGeom>
          <a:solidFill>
            <a:srgbClr val="1E3354"/>
          </a:solidFill>
          <a:ln w="12700">
            <a:solidFill>
              <a:srgbClr val="1E33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92938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192938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+ llama3.2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20840" y="19293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inference, OpenAI-compatible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450592"/>
            <a:ext cx="4206240" cy="530352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249631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249631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openai-whisper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20840" y="24963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Whisper base model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017520"/>
            <a:ext cx="4206240" cy="530352"/>
          </a:xfrm>
          <a:prstGeom prst="rect">
            <a:avLst/>
          </a:prstGeom>
          <a:solidFill>
            <a:srgbClr val="1E3354"/>
          </a:solidFill>
          <a:ln w="12700">
            <a:solidFill>
              <a:srgbClr val="1E33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30632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306324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pyttsx3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0840" y="30632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Samantha voice, 145 WPM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584448"/>
            <a:ext cx="4206240" cy="530352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6301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363016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20840" y="36301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bubbles + voice button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4151376"/>
            <a:ext cx="4206240" cy="530352"/>
          </a:xfrm>
          <a:prstGeom prst="rect">
            <a:avLst/>
          </a:prstGeom>
          <a:solidFill>
            <a:srgbClr val="1E3354"/>
          </a:solidFill>
          <a:ln w="12700">
            <a:solidFill>
              <a:srgbClr val="1E33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41970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4197096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3.9+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20840" y="41970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venv, sounddevice, soundfile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Lumi Can Do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91840" y="1481328"/>
            <a:ext cx="2834640" cy="420624"/>
          </a:xfrm>
          <a:prstGeom prst="rect">
            <a:avLst/>
          </a:prstGeom>
          <a:solidFill>
            <a:srgbClr val="D4ED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0" y="14996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4 + 9?"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75104"/>
            <a:ext cx="4389120" cy="420624"/>
          </a:xfrm>
          <a:prstGeom prst="rect">
            <a:avLst/>
          </a:prstGeom>
          <a:solidFill>
            <a:srgbClr val="FFF3CD"/>
          </a:solidFill>
          <a:ln w="12700">
            <a:solidFill>
              <a:srgbClr val="FFD9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933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you think the answer might be? 😊"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468880"/>
            <a:ext cx="2834640" cy="420624"/>
          </a:xfrm>
          <a:prstGeom prst="rect">
            <a:avLst/>
          </a:prstGeom>
          <a:solidFill>
            <a:srgbClr val="D4ED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4871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think it's 15"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4389120" cy="420624"/>
          </a:xfrm>
          <a:prstGeom prst="rect">
            <a:avLst/>
          </a:prstGeom>
          <a:solidFill>
            <a:srgbClr val="FFF3CD"/>
          </a:solidFill>
          <a:ln w="12700">
            <a:solidFill>
              <a:srgbClr val="FFD9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9809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"Almost! Try starting at 9 and counting up 4 more..."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3456432"/>
            <a:ext cx="2834640" cy="420624"/>
          </a:xfrm>
          <a:prstGeom prst="rect">
            <a:avLst/>
          </a:prstGeom>
          <a:solidFill>
            <a:srgbClr val="D4ED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3474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have 13 fingers!"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950208"/>
            <a:ext cx="4389120" cy="420624"/>
          </a:xfrm>
          <a:prstGeom prst="rect">
            <a:avLst/>
          </a:prstGeom>
          <a:solidFill>
            <a:srgbClr val="FFF3CD"/>
          </a:solidFill>
          <a:ln w="12700">
            <a:solidFill>
              <a:srgbClr val="FFD9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9684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so funny! 😊 So 4 + 9 = 13! Can you try 4 + 10? ⭐"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444752"/>
            <a:ext cx="2606040" cy="3017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Tools called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965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check_topic() 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395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check_grade_level() 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825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calculate(4+9) → 13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32552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check_answer('15') → 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685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B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check_answer('13') → ✓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B800">
              <a:alpha val="12000"/>
            </a:srgbClr>
          </a:solidFill>
          <a:ln w="12700">
            <a:solidFill>
              <a:srgbClr val="FFB80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FF6B6B">
              <a:alpha val="15000"/>
            </a:srgbClr>
          </a:solidFill>
          <a:ln w="12700">
            <a:solidFill>
              <a:srgbClr val="FF6B6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548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Lumi Math Tutor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B800">
              <a:alpha val="25000"/>
            </a:srgbClr>
          </a:solidFill>
          <a:ln w="1270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2608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95728" y="292608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B800">
              <a:alpha val="25000"/>
            </a:srgbClr>
          </a:solidFill>
          <a:ln w="1270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292608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68496" y="292608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B800">
              <a:alpha val="25000"/>
            </a:srgbClr>
          </a:solidFill>
          <a:ln w="1270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8496" y="292608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41264" y="292608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B800">
              <a:alpha val="25000"/>
            </a:srgbClr>
          </a:solidFill>
          <a:ln w="1270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1264" y="292608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14032" y="292608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FFB800">
              <a:alpha val="25000"/>
            </a:srgbClr>
          </a:solidFill>
          <a:ln w="1270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292608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Ollama · Whisper · pyttsx3 · Streamlit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AI Foundations Course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 Math Tutor — Project Overview</dc:title>
  <dc:subject>PptxGenJS Presentation</dc:subject>
  <dc:creator>PptxGenJS</dc:creator>
  <cp:lastModifiedBy>PptxGenJS</cp:lastModifiedBy>
  <cp:revision>1</cp:revision>
  <dcterms:created xsi:type="dcterms:W3CDTF">2026-06-01T01:21:37Z</dcterms:created>
  <dcterms:modified xsi:type="dcterms:W3CDTF">2026-06-01T01:21:37Z</dcterms:modified>
</cp:coreProperties>
</file>